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fedd1fe30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fedd1fe30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efedd1fe30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fedd1fe30_2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efedd1fe30_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fedd1fe30_2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03edec2b7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f03edec2b7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03edec2b7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03edec2b7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f03edec2b7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03edec2b7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file/d/1VTr1r65btsBjpuzujsA0I9CETMzlCcma/view?usp=sharing" TargetMode="External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E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683847" y="1188720"/>
            <a:ext cx="2377500" cy="914400"/>
          </a:xfrm>
          <a:prstGeom prst="roundRect">
            <a:avLst>
              <a:gd fmla="val 10000" name="adj"/>
            </a:avLst>
          </a:prstGeom>
          <a:solidFill>
            <a:srgbClr val="1B7F94">
              <a:alpha val="18039"/>
            </a:srgbClr>
          </a:solidFill>
          <a:ln cap="flat" cmpd="sng" w="12700">
            <a:solidFill>
              <a:srgbClr val="1B7F9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049607" y="1874520"/>
            <a:ext cx="2377500" cy="914400"/>
          </a:xfrm>
          <a:prstGeom prst="roundRect">
            <a:avLst>
              <a:gd fmla="val 10000" name="adj"/>
            </a:avLst>
          </a:prstGeom>
          <a:solidFill>
            <a:srgbClr val="1B7F94">
              <a:alpha val="30196"/>
            </a:srgbClr>
          </a:solidFill>
          <a:ln cap="flat" cmpd="sng" w="12700">
            <a:solidFill>
              <a:srgbClr val="1B7F9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15377" y="2560325"/>
            <a:ext cx="2377500" cy="1508700"/>
          </a:xfrm>
          <a:prstGeom prst="roundRect">
            <a:avLst>
              <a:gd fmla="val 10000" name="adj"/>
            </a:avLst>
          </a:prstGeom>
          <a:solidFill>
            <a:srgbClr val="1B7F94">
              <a:alpha val="45882"/>
            </a:srgbClr>
          </a:solidFill>
          <a:ln cap="flat" cmpd="sng" w="12700">
            <a:solidFill>
              <a:srgbClr val="1B7F9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GRUPO F</a:t>
            </a:r>
            <a:endParaRPr b="1"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Edson Andrade de Moraes</a:t>
            </a:r>
            <a:endParaRPr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Eduardo Zimelewicz</a:t>
            </a:r>
            <a:endParaRPr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Ligia Thomaz Vieira Leite</a:t>
            </a:r>
            <a:endParaRPr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Mariana Lisker Braunstein</a:t>
            </a:r>
            <a:endParaRPr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Omar Vinicius Matos Rolim</a:t>
            </a:r>
            <a:endParaRPr sz="115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Wallace Albertini Boquimpani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141732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Busca</a:t>
            </a: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Legislati</a:t>
            </a: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 Inteligente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58368" y="27889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 Fio Condutor do Direito Brasileiro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8368" y="3611880"/>
            <a:ext cx="4937760" cy="457200"/>
          </a:xfrm>
          <a:prstGeom prst="roundRect">
            <a:avLst>
              <a:gd fmla="val 20000" name="adj"/>
            </a:avLst>
          </a:prstGeom>
          <a:solidFill>
            <a:srgbClr val="26375A"/>
          </a:solidFill>
          <a:ln cap="flat" cmpd="sng" w="12700">
            <a:solidFill>
              <a:srgbClr val="1B7F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58368" y="36118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TRL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3 · Prova de Conceito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IA Socialmente Responsável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VISÃO GERAL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Roteiro da apresentação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1417320"/>
            <a:ext cx="406908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21792" y="1417320"/>
            <a:ext cx="685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371600" y="152704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71600" y="185623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A fragmentação do acesso à legislação.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709160" y="1417320"/>
            <a:ext cx="406908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873752" y="1417320"/>
            <a:ext cx="685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623560" y="1527048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A proposta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623560" y="185623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semântica e os perfis de usuário.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2450592"/>
            <a:ext cx="406908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21792" y="2450592"/>
            <a:ext cx="685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371600" y="25603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371600" y="2889504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multiesfera e mapa de lacunas.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709160" y="2450592"/>
            <a:ext cx="406908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73752" y="2450592"/>
            <a:ext cx="685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623560" y="25603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Arquitetura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623560" y="2889504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O funcionamento técnico detalhado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3483864"/>
            <a:ext cx="406908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21792" y="3483864"/>
            <a:ext cx="685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371600" y="359359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Confiança e governança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71600" y="3922776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Transparência e responsabilização.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709160" y="3483864"/>
            <a:ext cx="406908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73752" y="3483864"/>
            <a:ext cx="685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623560" y="3593592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Validação e próximos passos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623560" y="3922776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Resultados do TRL 3 e o caminho ao TRL 4.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O labirinto fragmentado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0080" y="1554480"/>
            <a:ext cx="2743200" cy="777240"/>
          </a:xfrm>
          <a:prstGeom prst="roundRect">
            <a:avLst>
              <a:gd fmla="val 9412" name="adj"/>
            </a:avLst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40080" y="155448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Federal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40080" y="2514600"/>
            <a:ext cx="2743200" cy="777240"/>
          </a:xfrm>
          <a:prstGeom prst="roundRect">
            <a:avLst>
              <a:gd fmla="val 9412" name="adj"/>
            </a:avLst>
          </a:prstGeom>
          <a:solidFill>
            <a:srgbClr val="26375A"/>
          </a:solidFill>
          <a:ln cap="flat" cmpd="sng" w="12700">
            <a:solidFill>
              <a:srgbClr val="263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40080" y="251460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Estadual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" y="3474720"/>
            <a:ext cx="2743200" cy="777240"/>
          </a:xfrm>
          <a:prstGeom prst="roundRect">
            <a:avLst>
              <a:gd fmla="val 9412" name="adj"/>
            </a:avLst>
          </a:prstGeom>
          <a:solidFill>
            <a:srgbClr val="33476B"/>
          </a:solidFill>
          <a:ln cap="flat" cmpd="sng" w="12700">
            <a:solidFill>
              <a:srgbClr val="3347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40080" y="347472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Municipal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0080" y="44348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Três esferas que deveriam conversar — mas vivem isoladas.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840480" y="1508760"/>
            <a:ext cx="48463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041648" y="1714500"/>
            <a:ext cx="548640" cy="548640"/>
          </a:xfrm>
          <a:prstGeom prst="ellipse">
            <a:avLst/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4294" y="18571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4754880" y="162763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Busca cega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754880" y="1929384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Ferramentas atuais dependem de palavras-chave exatas e ignoram o contexto e a semântica.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840480" y="2633472"/>
            <a:ext cx="48463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041648" y="2839212"/>
            <a:ext cx="548640" cy="548640"/>
          </a:xfrm>
          <a:prstGeom prst="ellipse">
            <a:avLst/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84294" y="298185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4754880" y="2752344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Isolamento de esferas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754880" y="305409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Normas complementares vivem em silos, em portais distintos e sem vínculos entre si.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840480" y="3758184"/>
            <a:ext cx="484632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041648" y="3963924"/>
            <a:ext cx="548640" cy="548640"/>
          </a:xfrm>
          <a:prstGeom prst="ellipse">
            <a:avLst/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84294" y="4106570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4754880" y="3877056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Assimetria informacional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754880" y="417880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A dificuldade de pesquisa penaliza quem não tem assessoria especializada.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457200" y="548640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Vídeo do protótipo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6801" y="1249283"/>
            <a:ext cx="6770398" cy="3631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A PROPOSTA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A mudança de paradigma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828800" y="137160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828800" y="1371600"/>
            <a:ext cx="3154680" cy="457200"/>
          </a:xfrm>
          <a:prstGeom prst="roundRect">
            <a:avLst>
              <a:gd fmla="val 12000" name="adj"/>
            </a:avLst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1828800" y="137160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Estado atual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120640" y="1371600"/>
            <a:ext cx="3246120" cy="457200"/>
          </a:xfrm>
          <a:prstGeom prst="roundRect">
            <a:avLst>
              <a:gd fmla="val 12000" name="adj"/>
            </a:avLst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5120640" y="13716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 inteligente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57200" y="1901952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Mecanismo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828800" y="1901952"/>
            <a:ext cx="3154680" cy="640080"/>
          </a:xfrm>
          <a:prstGeom prst="roundRect">
            <a:avLst>
              <a:gd fmla="val 8571" name="adj"/>
            </a:avLst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1993392" y="1901952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Busca por palavra-chave e metadados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120640" y="1901952"/>
            <a:ext cx="32461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6944" y="20756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5687568" y="1901952"/>
            <a:ext cx="25328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Busca semântica por intenção livre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2615184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Integração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828800" y="2615184"/>
            <a:ext cx="3154680" cy="640080"/>
          </a:xfrm>
          <a:prstGeom prst="roundRect">
            <a:avLst>
              <a:gd fmla="val 8571" name="adj"/>
            </a:avLst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993392" y="2615184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Esferas isoladas, leitura cruzada manual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120640" y="2615184"/>
            <a:ext cx="32461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6944" y="27889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5687568" y="2615184"/>
            <a:ext cx="25328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Análise simultânea de diferentes esferas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3328416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Explicabilidade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828800" y="3328416"/>
            <a:ext cx="3154680" cy="640080"/>
          </a:xfrm>
          <a:prstGeom prst="roundRect">
            <a:avLst>
              <a:gd fmla="val 8571" name="adj"/>
            </a:avLst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1993392" y="3328416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Textos brutos sem re</a:t>
            </a:r>
            <a:r>
              <a:rPr lang="en-US" sz="1050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ferência a legislação de outras esferas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120640" y="3328416"/>
            <a:ext cx="32461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6944" y="35021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7"/>
          <p:cNvSpPr/>
          <p:nvPr/>
        </p:nvSpPr>
        <p:spPr>
          <a:xfrm>
            <a:off x="5687568" y="3328416"/>
            <a:ext cx="25328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Trechos específicos com índice de relevância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4041648"/>
            <a:ext cx="1325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Lacunas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828800" y="4041648"/>
            <a:ext cx="3154680" cy="640080"/>
          </a:xfrm>
          <a:prstGeom prst="roundRect">
            <a:avLst>
              <a:gd fmla="val 8571" name="adj"/>
            </a:avLst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993392" y="4041648"/>
            <a:ext cx="2880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Depende da memória humana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120640" y="4041648"/>
            <a:ext cx="324612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2E7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6944" y="421538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5687568" y="4041648"/>
            <a:ext cx="25328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Alerta automatizado de lacunas normativas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457200" y="30175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GOVERNANÇA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57200" y="548640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p8"/>
          <p:cNvGrpSpPr/>
          <p:nvPr/>
        </p:nvGrpSpPr>
        <p:grpSpPr>
          <a:xfrm>
            <a:off x="2364894" y="1207150"/>
            <a:ext cx="4414075" cy="3410548"/>
            <a:chOff x="3413387" y="1207150"/>
            <a:chExt cx="4414075" cy="3410548"/>
          </a:xfrm>
        </p:grpSpPr>
        <p:sp>
          <p:nvSpPr>
            <p:cNvPr id="138" name="Google Shape;138;p8"/>
            <p:cNvSpPr/>
            <p:nvPr/>
          </p:nvSpPr>
          <p:spPr>
            <a:xfrm>
              <a:off x="3413525" y="1207150"/>
              <a:ext cx="2207100" cy="1529700"/>
            </a:xfrm>
            <a:prstGeom prst="rect">
              <a:avLst/>
            </a:prstGeom>
            <a:solidFill>
              <a:srgbClr val="F4F6F9"/>
            </a:solidFill>
            <a:ln cap="flat" cmpd="sng" w="10450">
              <a:solidFill>
                <a:srgbClr val="DCE2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00" lIns="100300" spcFirstLastPara="1" rIns="100300" wrap="square" tIns="100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3563991" y="1235893"/>
              <a:ext cx="1905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C2E4A"/>
                </a:buClr>
                <a:buSzPts val="1262"/>
                <a:buFont typeface="Calibri"/>
                <a:buNone/>
              </a:pPr>
              <a:r>
                <a:rPr b="1" i="0" lang="en-US" sz="1262" u="none" cap="none" strike="noStrike">
                  <a:solidFill>
                    <a:srgbClr val="1C2E4A"/>
                  </a:solidFill>
                  <a:latin typeface="Calibri"/>
                  <a:ea typeface="Calibri"/>
                  <a:cs typeface="Calibri"/>
                  <a:sym typeface="Calibri"/>
                </a:rPr>
                <a:t>Manter satisfeitas</a:t>
              </a:r>
              <a:endParaRPr b="0" i="0" sz="12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3543905" y="1620866"/>
              <a:ext cx="2056200" cy="7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3340"/>
                </a:buClr>
                <a:buSzPts val="1042"/>
                <a:buFont typeface="Calibri"/>
                <a:buNone/>
              </a:pPr>
              <a:r>
                <a:rPr lang="en-US" sz="1042">
                  <a:solidFill>
                    <a:srgbClr val="2A3340"/>
                  </a:solidFill>
                  <a:latin typeface="Calibri"/>
                  <a:ea typeface="Calibri"/>
                  <a:cs typeface="Calibri"/>
                  <a:sym typeface="Calibri"/>
                </a:rPr>
                <a:t>Parceiros Estratégicos | Equipe de desenvolvimento | Equipe de curadoria do corpus | Especialistas de validação | Governança ética | Órgãos públicos normativos (Câmara Municipal, ALERJ, Imprensa Nacional)</a:t>
              </a:r>
              <a:endParaRPr b="0" i="0" sz="10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5620362" y="1207150"/>
              <a:ext cx="2207100" cy="1529700"/>
            </a:xfrm>
            <a:prstGeom prst="rect">
              <a:avLst/>
            </a:prstGeom>
            <a:solidFill>
              <a:srgbClr val="F4F6F9"/>
            </a:solidFill>
            <a:ln cap="flat" cmpd="sng" w="10450">
              <a:solidFill>
                <a:srgbClr val="DCE2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00" lIns="100300" spcFirstLastPara="1" rIns="100300" wrap="square" tIns="100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8"/>
            <p:cNvSpPr/>
            <p:nvPr/>
          </p:nvSpPr>
          <p:spPr>
            <a:xfrm>
              <a:off x="5770828" y="1235911"/>
              <a:ext cx="1905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C2E4A"/>
                </a:buClr>
                <a:buSzPts val="1262"/>
                <a:buFont typeface="Calibri"/>
                <a:buNone/>
              </a:pPr>
              <a:r>
                <a:rPr b="1" i="0" lang="en-US" sz="1262" u="none" cap="none" strike="noStrike">
                  <a:solidFill>
                    <a:srgbClr val="1C2E4A"/>
                  </a:solidFill>
                  <a:latin typeface="Calibri"/>
                  <a:ea typeface="Calibri"/>
                  <a:cs typeface="Calibri"/>
                  <a:sym typeface="Calibri"/>
                </a:rPr>
                <a:t>Gerir de perto</a:t>
              </a:r>
              <a:endParaRPr b="0" i="0" sz="12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5770828" y="1620883"/>
              <a:ext cx="1905900" cy="7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3340"/>
                </a:buClr>
                <a:buSzPts val="1042"/>
                <a:buFont typeface="Calibri"/>
                <a:buNone/>
              </a:pPr>
              <a:r>
                <a:rPr lang="en-US" sz="1042">
                  <a:solidFill>
                    <a:srgbClr val="2A3340"/>
                  </a:solidFill>
                  <a:latin typeface="Calibri"/>
                  <a:ea typeface="Calibri"/>
                  <a:cs typeface="Calibri"/>
                  <a:sym typeface="Calibri"/>
                </a:rPr>
                <a:t>Decisores e Reguladores | Gestores institucionais | Patrocinadores | Agências reguladoras (ex: ANPD)</a:t>
              </a:r>
              <a:endParaRPr b="0" i="0" sz="10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8"/>
            <p:cNvSpPr/>
            <p:nvPr/>
          </p:nvSpPr>
          <p:spPr>
            <a:xfrm>
              <a:off x="5620150" y="2745411"/>
              <a:ext cx="2207100" cy="1529700"/>
            </a:xfrm>
            <a:prstGeom prst="rect">
              <a:avLst/>
            </a:prstGeom>
            <a:solidFill>
              <a:srgbClr val="EAF3EC"/>
            </a:solidFill>
            <a:ln cap="flat" cmpd="sng" w="10450">
              <a:solidFill>
                <a:srgbClr val="DCE2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00" lIns="100300" spcFirstLastPara="1" rIns="100300" wrap="square" tIns="100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>
              <a:off x="5770616" y="2808530"/>
              <a:ext cx="1905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C2E4A"/>
                </a:buClr>
                <a:buSzPts val="1262"/>
                <a:buFont typeface="Calibri"/>
                <a:buNone/>
              </a:pPr>
              <a:r>
                <a:rPr b="1" i="0" lang="en-US" sz="1262" u="none" cap="none" strike="noStrike">
                  <a:solidFill>
                    <a:srgbClr val="1C2E4A"/>
                  </a:solidFill>
                  <a:latin typeface="Calibri"/>
                  <a:ea typeface="Calibri"/>
                  <a:cs typeface="Calibri"/>
                  <a:sym typeface="Calibri"/>
                </a:rPr>
                <a:t>Monitorar e proteger</a:t>
              </a:r>
              <a:endParaRPr b="0" i="0" sz="12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8"/>
            <p:cNvSpPr/>
            <p:nvPr/>
          </p:nvSpPr>
          <p:spPr>
            <a:xfrm>
              <a:off x="5770625" y="3198328"/>
              <a:ext cx="2036100" cy="7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3340"/>
                </a:buClr>
                <a:buSzPts val="1042"/>
                <a:buFont typeface="Calibri"/>
                <a:buNone/>
              </a:pPr>
              <a:r>
                <a:rPr lang="en-US" sz="1042">
                  <a:solidFill>
                    <a:srgbClr val="2A3340"/>
                  </a:solidFill>
                  <a:latin typeface="Calibri"/>
                  <a:ea typeface="Calibri"/>
                  <a:cs typeface="Calibri"/>
                  <a:sym typeface="Calibri"/>
                </a:rPr>
                <a:t>Usuários e Beneficiários | Comunidades usuárias | Profissionais jurídicos e pesquisadores | Cidadãos com base jurídica | Clientes de advogados e usuários de serviços públicos</a:t>
              </a:r>
              <a:endParaRPr b="0" i="0" sz="10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8"/>
            <p:cNvSpPr/>
            <p:nvPr/>
          </p:nvSpPr>
          <p:spPr>
            <a:xfrm>
              <a:off x="3413387" y="2748096"/>
              <a:ext cx="2207100" cy="1529700"/>
            </a:xfrm>
            <a:prstGeom prst="rect">
              <a:avLst/>
            </a:prstGeom>
            <a:solidFill>
              <a:srgbClr val="F4F6F9"/>
            </a:solidFill>
            <a:ln cap="flat" cmpd="sng" w="10450">
              <a:solidFill>
                <a:srgbClr val="DCE2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0300" lIns="100300" spcFirstLastPara="1" rIns="100300" wrap="square" tIns="100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8"/>
            <p:cNvSpPr/>
            <p:nvPr/>
          </p:nvSpPr>
          <p:spPr>
            <a:xfrm>
              <a:off x="3563853" y="2802634"/>
              <a:ext cx="1905900" cy="4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C2E4A"/>
                </a:buClr>
                <a:buSzPts val="1262"/>
                <a:buFont typeface="Calibri"/>
                <a:buNone/>
              </a:pPr>
              <a:r>
                <a:rPr b="1" i="0" lang="en-US" sz="1262" u="none" cap="none" strike="noStrike">
                  <a:solidFill>
                    <a:srgbClr val="1C2E4A"/>
                  </a:solidFill>
                  <a:latin typeface="Calibri"/>
                  <a:ea typeface="Calibri"/>
                  <a:cs typeface="Calibri"/>
                  <a:sym typeface="Calibri"/>
                </a:rPr>
                <a:t>Manter informadas</a:t>
              </a:r>
              <a:endParaRPr b="0" i="0" sz="126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3563853" y="3189554"/>
              <a:ext cx="1905900" cy="70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3340"/>
                </a:buClr>
                <a:buSzPts val="1042"/>
                <a:buFont typeface="Calibri"/>
                <a:buNone/>
              </a:pPr>
              <a:r>
                <a:rPr lang="en-US" sz="1042">
                  <a:solidFill>
                    <a:srgbClr val="2A3340"/>
                  </a:solidFill>
                  <a:latin typeface="Calibri"/>
                  <a:ea typeface="Calibri"/>
                  <a:cs typeface="Calibri"/>
                  <a:sym typeface="Calibri"/>
                </a:rPr>
                <a:t>Atores Periféricos | Pessoas afetadas lateralmente | Profissionais não-usuários do tema | Poderes Executivo, Legislativo e Judiciário | Outras plataformas de busca</a:t>
              </a:r>
              <a:endParaRPr b="0" i="0" sz="104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3413525" y="4316798"/>
              <a:ext cx="4413600" cy="3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E6B7A"/>
                </a:buClr>
                <a:buSzPts val="987"/>
                <a:buFont typeface="Calibri"/>
                <a:buNone/>
              </a:pPr>
              <a:r>
                <a:rPr b="0" i="1" lang="en-US" sz="987" u="none" cap="none" strike="noStrike">
                  <a:solidFill>
                    <a:srgbClr val="5E6B7A"/>
                  </a:solidFill>
                  <a:latin typeface="Calibri"/>
                  <a:ea typeface="Calibri"/>
                  <a:cs typeface="Calibri"/>
                  <a:sym typeface="Calibri"/>
                </a:rPr>
                <a:t>Influência ↑   ·   Envolvimento →</a:t>
              </a:r>
              <a:endParaRPr b="0" i="0" sz="9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8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EXPERIÊNCIA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Três lentes para o mesmo direito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57200" y="1417320"/>
            <a:ext cx="2697480" cy="324612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1522476" y="1645920"/>
            <a:ext cx="566928" cy="566928"/>
          </a:xfrm>
          <a:prstGeom prst="ellipse">
            <a:avLst/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877" y="179332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9"/>
          <p:cNvSpPr/>
          <p:nvPr/>
        </p:nvSpPr>
        <p:spPr>
          <a:xfrm>
            <a:off x="594360" y="2286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Pessoa advogada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9"/>
          <p:cNvCxnSpPr/>
          <p:nvPr/>
        </p:nvCxnSpPr>
        <p:spPr>
          <a:xfrm>
            <a:off x="914400" y="2715768"/>
            <a:ext cx="1783080" cy="0"/>
          </a:xfrm>
          <a:prstGeom prst="straightConnector1">
            <a:avLst/>
          </a:prstGeom>
          <a:noFill/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9"/>
          <p:cNvSpPr/>
          <p:nvPr/>
        </p:nvSpPr>
        <p:spPr>
          <a:xfrm>
            <a:off x="640080" y="2834640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Interface: 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Terminologia técnica completa.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40080" y="3438144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Foco: 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Mapeamento de lacunas de alta precisão.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40080" y="404164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Saída: 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Exportação em padrão jurídico.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3355848" y="1417320"/>
            <a:ext cx="2697480" cy="324612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4421124" y="1645920"/>
            <a:ext cx="566928" cy="566928"/>
          </a:xfrm>
          <a:prstGeom prst="ellipse">
            <a:avLst/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8525" y="179332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/>
          <p:nvPr/>
        </p:nvSpPr>
        <p:spPr>
          <a:xfrm>
            <a:off x="3493008" y="2286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Pessoa pesquisadora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9"/>
          <p:cNvCxnSpPr/>
          <p:nvPr/>
        </p:nvCxnSpPr>
        <p:spPr>
          <a:xfrm>
            <a:off x="3813048" y="2715768"/>
            <a:ext cx="1783080" cy="0"/>
          </a:xfrm>
          <a:prstGeom prst="straightConnector1">
            <a:avLst/>
          </a:prstGeom>
          <a:noFill/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9"/>
          <p:cNvSpPr/>
          <p:nvPr/>
        </p:nvSpPr>
        <p:spPr>
          <a:xfrm>
            <a:off x="3538728" y="2834640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Interface: 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Análise comparativa aprofundada.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538728" y="3438144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Foco: 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Histórico evolutivo, leitura lado a lado.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538728" y="404164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Saída: 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Exportação em formato ABNT.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254496" y="1417320"/>
            <a:ext cx="2697480" cy="324612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7319772" y="1645920"/>
            <a:ext cx="566928" cy="566928"/>
          </a:xfrm>
          <a:prstGeom prst="ellipse">
            <a:avLst/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67173" y="179332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6391656" y="22860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Pessoa cidadã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9"/>
          <p:cNvCxnSpPr/>
          <p:nvPr/>
        </p:nvCxnSpPr>
        <p:spPr>
          <a:xfrm>
            <a:off x="6711696" y="2715768"/>
            <a:ext cx="1783080" cy="0"/>
          </a:xfrm>
          <a:prstGeom prst="straightConnector1">
            <a:avLst/>
          </a:prstGeom>
          <a:noFill/>
          <a:ln cap="flat" cmpd="sng" w="12700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9"/>
          <p:cNvSpPr/>
          <p:nvPr/>
        </p:nvSpPr>
        <p:spPr>
          <a:xfrm>
            <a:off x="6437376" y="2834640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Interface: 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Modo guiado, glossário integrado.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37376" y="3438144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Foco: 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Direitos básicos </a:t>
            </a:r>
            <a:r>
              <a:rPr lang="en-US" sz="1050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apresentados de forma objetiva e visual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37376" y="4041648"/>
            <a:ext cx="2331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Guardrail: </a:t>
            </a:r>
            <a:r>
              <a:rPr b="0" i="0" lang="en-US" sz="10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Remissão à Defensoria / OAB.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RESPONSABILIDADE SOCIAL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Salvaguardas para o cidadão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57200" y="1463040"/>
            <a:ext cx="2697480" cy="292608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685800" y="1719072"/>
            <a:ext cx="566928" cy="566928"/>
          </a:xfrm>
          <a:prstGeom prst="ellipse">
            <a:avLst/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201" y="1866473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/>
          <p:nvPr/>
        </p:nvSpPr>
        <p:spPr>
          <a:xfrm>
            <a:off x="685800" y="242316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Modo guiado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85800" y="292608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Situações comuns pré-formuladas (ex.: “fui demitido”, “cobrança indevida”) traduzem dores reais em consultas legais.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355848" y="1463040"/>
            <a:ext cx="2697480" cy="292608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3584448" y="1719072"/>
            <a:ext cx="566928" cy="566928"/>
          </a:xfrm>
          <a:prstGeom prst="ellipse">
            <a:avLst/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1849" y="1866473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/>
          <p:nvPr/>
        </p:nvSpPr>
        <p:spPr>
          <a:xfrm>
            <a:off x="3584448" y="242316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Aviso de falibilidade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3584448" y="292608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Alerta fixo e visível: o sistema pode cometer erros. Reveja e consulte sempre as fontes oficiais.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6254496" y="1463040"/>
            <a:ext cx="2697480" cy="292608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6483096" y="1719072"/>
            <a:ext cx="566928" cy="566928"/>
          </a:xfrm>
          <a:prstGeom prst="ellipse">
            <a:avLst/>
          </a:prstGeom>
          <a:solidFill>
            <a:srgbClr val="F4F6F9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3" name="Google Shape;20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0497" y="1866473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>
            <a:off x="6483096" y="242316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Redirecionamento institucional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483096" y="2926080"/>
            <a:ext cx="22402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Banner remete usuários em alta vulnerabilidade à Defensoria Pública para orientação conclusiva.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POSICIONAMENTO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Inteligência semântica, não opinião jurídica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200400" y="1508760"/>
            <a:ext cx="2743200" cy="2468880"/>
          </a:xfrm>
          <a:prstGeom prst="roundRect">
            <a:avLst>
              <a:gd fmla="val 3704" name="adj"/>
            </a:avLst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3429000" y="1783080"/>
            <a:ext cx="22860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sistema 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como uma bibliotec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jurídica,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nunca atuando como um advogado artificial.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173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/>
          <p:nvPr/>
        </p:nvSpPr>
        <p:spPr>
          <a:xfrm>
            <a:off x="841248" y="1371600"/>
            <a:ext cx="22219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7D52"/>
                </a:solidFill>
                <a:latin typeface="Calibri"/>
                <a:ea typeface="Calibri"/>
                <a:cs typeface="Calibri"/>
                <a:sym typeface="Calibri"/>
              </a:rPr>
              <a:t>O que o sistema FAZ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57200" y="1920240"/>
            <a:ext cx="26060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Processa linguagem natural e identifica </a:t>
            </a:r>
            <a:r>
              <a:rPr lang="en-US" sz="1150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temas</a:t>
            </a:r>
            <a:r>
              <a:rPr b="0" i="0" lang="en-US" sz="11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334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Relaciona normas das três esferas, de forma hierárquica e sem</a:t>
            </a:r>
            <a:r>
              <a:rPr lang="en-US" sz="1150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ântica</a:t>
            </a:r>
            <a:r>
              <a:rPr b="0" i="0" lang="en-US" sz="11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334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Destaca dispositivos legais exatos (artigos, incisos).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0760" y="14173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/>
          <p:nvPr/>
        </p:nvSpPr>
        <p:spPr>
          <a:xfrm>
            <a:off x="6464808" y="1371600"/>
            <a:ext cx="22219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O que o sistema NÃO FAZ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6080760" y="1920240"/>
            <a:ext cx="260604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Não emite pareceres ou opiniões jurídicas.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334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Não simula empatia nem dá conselhos</a:t>
            </a:r>
            <a:r>
              <a:rPr lang="en-US" sz="1150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sem antropomorfização.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A3340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Não dispensa o julgamento e a validação final humana.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CASO DE USO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Busca semântica multiesfera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15" y="1824902"/>
            <a:ext cx="5053225" cy="2035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32" name="Google Shape;232;p12"/>
          <p:cNvCxnSpPr>
            <a:stCxn id="231" idx="3"/>
          </p:cNvCxnSpPr>
          <p:nvPr/>
        </p:nvCxnSpPr>
        <p:spPr>
          <a:xfrm>
            <a:off x="5431240" y="2842402"/>
            <a:ext cx="259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3" name="Google Shape;23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1034" y="893063"/>
            <a:ext cx="3074950" cy="389867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/>
          <p:nvPr/>
        </p:nvSpPr>
        <p:spPr>
          <a:xfrm>
            <a:off x="457200" y="30175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CASO DE USO 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57200" y="548640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Da pergunta ao banco de dados preenchido</a:t>
            </a:r>
            <a:endParaRPr b="1" sz="3000">
              <a:solidFill>
                <a:srgbClr val="1C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457200" y="1199454"/>
            <a:ext cx="6881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Pergunta do usuário: Quero desenvolver um parque eólico offshore na costa fluminense. O que preciso saber para pedir a licença ambiental?</a:t>
            </a:r>
            <a:endParaRPr sz="1450">
              <a:solidFill>
                <a:srgbClr val="2A33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700" y="1957811"/>
            <a:ext cx="7447001" cy="1012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635" y="2998975"/>
            <a:ext cx="7343274" cy="16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CASO DE USO 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Mapeamento de lacunas normativas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5288" y="1263975"/>
            <a:ext cx="3080150" cy="32469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54" name="Google Shape;254;p14"/>
          <p:cNvCxnSpPr>
            <a:stCxn id="255" idx="3"/>
            <a:endCxn id="253" idx="1"/>
          </p:cNvCxnSpPr>
          <p:nvPr/>
        </p:nvCxnSpPr>
        <p:spPr>
          <a:xfrm>
            <a:off x="5240512" y="2887450"/>
            <a:ext cx="36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55" name="Google Shape;25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563" y="1986419"/>
            <a:ext cx="4781949" cy="180206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457200" y="548640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Arquitetura técnica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826" y="1335751"/>
            <a:ext cx="6620350" cy="33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CONFIANÇA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Transparência</a:t>
            </a:r>
            <a:r>
              <a:rPr b="1" lang="en-US" sz="3000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 do sistema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25" y="1577912"/>
            <a:ext cx="4541521" cy="264922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4" name="Google Shape;2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9725" y="2257000"/>
            <a:ext cx="2862450" cy="12910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GOVERNANÇA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Ouvidoria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94651"/>
            <a:ext cx="3736222" cy="3650285"/>
          </a:xfrm>
          <a:prstGeom prst="rect">
            <a:avLst/>
          </a:prstGeom>
          <a:noFill/>
          <a:ln cap="flat" cmpd="sng" w="2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4" name="Google Shape;2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0579" y="1632525"/>
            <a:ext cx="3736222" cy="2774552"/>
          </a:xfrm>
          <a:prstGeom prst="rect">
            <a:avLst/>
          </a:prstGeom>
          <a:noFill/>
          <a:ln cap="flat" cmpd="sng" w="2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/>
          <p:nvPr/>
        </p:nvSpPr>
        <p:spPr>
          <a:xfrm>
            <a:off x="457200" y="30175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O caminho para o TRL 4 (ambiente controlado)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457200" y="1554480"/>
            <a:ext cx="2011680" cy="260604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1188720" y="1783080"/>
            <a:ext cx="548640" cy="548640"/>
          </a:xfrm>
          <a:prstGeom prst="ellipse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118872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621792" y="2468880"/>
            <a:ext cx="16824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Expansão do corpus real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621792" y="3108960"/>
            <a:ext cx="168249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Substituir os dados de exemplo pelo pipeline contínuo dos Diários Oficiais (RJ, Estado, União).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2624328" y="1554480"/>
            <a:ext cx="2011680" cy="260604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"/>
          <p:cNvSpPr/>
          <p:nvPr/>
        </p:nvSpPr>
        <p:spPr>
          <a:xfrm>
            <a:off x="3355848" y="1783080"/>
            <a:ext cx="548640" cy="548640"/>
          </a:xfrm>
          <a:prstGeom prst="ellipse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8"/>
          <p:cNvSpPr/>
          <p:nvPr/>
        </p:nvSpPr>
        <p:spPr>
          <a:xfrm>
            <a:off x="3355848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2788920" y="2468880"/>
            <a:ext cx="16824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Calibração com </a:t>
            </a:r>
            <a:r>
              <a:rPr b="1" lang="en-US" sz="1150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2788920" y="3108960"/>
            <a:ext cx="168249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Estabelecer empiricamente os limiares numéricos (ex.: corte de 70% para lacunas) com advogados e cidad</a:t>
            </a:r>
            <a:r>
              <a:rPr lang="en-US" sz="950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ãos</a:t>
            </a:r>
            <a:r>
              <a:rPr b="0" i="0" lang="en-US" sz="9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4791456" y="1554480"/>
            <a:ext cx="2011680" cy="260604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"/>
          <p:cNvSpPr/>
          <p:nvPr/>
        </p:nvSpPr>
        <p:spPr>
          <a:xfrm>
            <a:off x="5522976" y="1783080"/>
            <a:ext cx="548640" cy="548640"/>
          </a:xfrm>
          <a:prstGeom prst="ellipse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8"/>
          <p:cNvSpPr/>
          <p:nvPr/>
        </p:nvSpPr>
        <p:spPr>
          <a:xfrm>
            <a:off x="5522976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4956048" y="2468880"/>
            <a:ext cx="16824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Testes adversariais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4956048" y="3108960"/>
            <a:ext cx="168249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Submeter o sistema a consultas ambíguas e ruidosas para garantir robustez.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6958584" y="1554480"/>
            <a:ext cx="2011680" cy="260604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 cap="flat" cmpd="sng" w="9525">
            <a:solidFill>
              <a:srgbClr val="DCE2EA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8A93A3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7690104" y="1783080"/>
            <a:ext cx="548640" cy="548640"/>
          </a:xfrm>
          <a:prstGeom prst="ellipse">
            <a:avLst/>
          </a:prstGeom>
          <a:solidFill>
            <a:srgbClr val="1C2E4A"/>
          </a:solidFill>
          <a:ln cap="flat" cmpd="sng" w="12700">
            <a:solidFill>
              <a:srgbClr val="1C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8"/>
          <p:cNvSpPr/>
          <p:nvPr/>
        </p:nvSpPr>
        <p:spPr>
          <a:xfrm>
            <a:off x="7690104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7123176" y="2468880"/>
            <a:ext cx="168249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E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2E4A"/>
                </a:solidFill>
                <a:latin typeface="Calibri"/>
                <a:ea typeface="Calibri"/>
                <a:cs typeface="Calibri"/>
                <a:sym typeface="Calibri"/>
              </a:rPr>
              <a:t>Validação externa inclusiva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7123176" y="3108960"/>
            <a:ext cx="168249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334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A3340"/>
                </a:solidFill>
                <a:latin typeface="Calibri"/>
                <a:ea typeface="Calibri"/>
                <a:cs typeface="Calibri"/>
                <a:sym typeface="Calibri"/>
              </a:rPr>
              <a:t>Rodadas com usuários reais, foco no perfil cidadão e adequação WCAG 2.2 AA.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F94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1B7F94"/>
                </a:solidFill>
                <a:latin typeface="Calibri"/>
                <a:ea typeface="Calibri"/>
                <a:cs typeface="Calibri"/>
                <a:sym typeface="Calibri"/>
              </a:rPr>
              <a:t>Da prova de conceito técnica à ferramenta de infraestrutura jurídica auditável.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457200" y="483260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B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E6B7A"/>
                </a:solidFill>
                <a:latin typeface="Calibri"/>
                <a:ea typeface="Calibri"/>
                <a:cs typeface="Calibri"/>
                <a:sym typeface="Calibri"/>
              </a:rPr>
              <a:t>Busca Legislativa Inteligente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E4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/>
          <p:nvPr/>
        </p:nvSpPr>
        <p:spPr>
          <a:xfrm>
            <a:off x="1828805" y="1885945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